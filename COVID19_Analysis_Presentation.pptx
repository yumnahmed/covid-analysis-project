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4" r:id="rId5"/>
    <p:sldId id="258" r:id="rId6"/>
    <p:sldId id="261" r:id="rId7"/>
    <p:sldId id="260" r:id="rId8"/>
    <p:sldId id="262" r:id="rId9"/>
    <p:sldId id="267" r:id="rId10"/>
    <p:sldId id="263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70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067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F303D-1413-C23B-9A9B-B54EC843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9C98D-880F-853C-1246-F7BCD9959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22F53-1CF3-E0C7-4D8F-6624F463E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01036-1FEC-7AB2-7826-3555728A0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31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imdevskp/corona-virus-report?select=worldometer_data.cs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C5D8A">
              <a:alpha val="30000"/>
            </a:srgbClr>
          </a:solidFill>
          <a:ln w="12700">
            <a:solidFill>
              <a:srgbClr val="1C5D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A8754">
              <a:alpha val="25000"/>
            </a:srgbClr>
          </a:solidFill>
          <a:ln w="12700">
            <a:solidFill>
              <a:srgbClr val="0A875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914400" cy="914400"/>
          </a:xfrm>
          <a:prstGeom prst="ellipse">
            <a:avLst/>
          </a:prstGeom>
          <a:solidFill>
            <a:srgbClr val="0A8754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Global Data Analysis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5029200" cy="36576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2578607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Dataset: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Worldometer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COVID-19 Data  </a:t>
            </a:r>
          </a:p>
          <a:p>
            <a:r>
              <a:rPr lang="en-US" sz="1400" i="1" dirty="0">
                <a:solidFill>
                  <a:srgbClr val="AABCC9"/>
                </a:solidFill>
              </a:rPr>
              <a:t>Source: </a:t>
            </a:r>
            <a:r>
              <a:rPr lang="en-US" sz="1400" i="1" dirty="0">
                <a:solidFill>
                  <a:srgbClr val="AABCC9"/>
                </a:solidFill>
                <a:hlinkClick r:id="rId3"/>
              </a:rPr>
              <a:t>Kaggle</a:t>
            </a:r>
            <a:endParaRPr lang="en-US" sz="1400" dirty="0"/>
          </a:p>
          <a:p>
            <a:pPr marL="0" indent="0">
              <a:buNone/>
            </a:pPr>
            <a:endParaRPr lang="en-US" sz="13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Date: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Tools: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Matplotlib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Power BI Development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91440" cy="155448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global COVID-19 data to uncover trends in confirmed cases, deaths, and recoveries across countries.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91440" cy="155448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143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Worldometer data sourced from Kaggle — includes cases, deaths, recoveries, active cases, tests, and population by country.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160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91440" cy="155448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Scope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analysis covering all continents with engineered features like death rate, recovery rate, and per-million metrics.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4160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743200"/>
            <a:ext cx="91440" cy="155448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880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24612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regions, key health indicators, and actionable insights to support data-driven healthcare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and engineered features from the cleaned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417320"/>
          </a:xfrm>
          <a:prstGeom prst="rect">
            <a:avLst/>
          </a:prstGeom>
          <a:solidFill>
            <a:srgbClr val="1C5D8A">
              <a:alpha val="70000"/>
            </a:srgbClr>
          </a:solidFill>
          <a:ln w="63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51760" cy="54864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/ Regions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651760" cy="1417320"/>
          </a:xfrm>
          <a:prstGeom prst="rect">
            <a:avLst/>
          </a:prstGeom>
          <a:solidFill>
            <a:srgbClr val="1C5D8A">
              <a:alpha val="70000"/>
            </a:srgbClr>
          </a:solidFill>
          <a:ln w="63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651760" cy="54864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5468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15468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 Covered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188720"/>
            <a:ext cx="2651760" cy="1417320"/>
          </a:xfrm>
          <a:prstGeom prst="rect">
            <a:avLst/>
          </a:prstGeom>
          <a:solidFill>
            <a:srgbClr val="1C5D8A">
              <a:alpha val="70000"/>
            </a:srgbClr>
          </a:solidFill>
          <a:ln w="63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89320" y="1188720"/>
            <a:ext cx="2651760" cy="54864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8932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8932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98932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 Dataset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51760" cy="1417320"/>
          </a:xfrm>
          <a:prstGeom prst="rect">
            <a:avLst/>
          </a:prstGeom>
          <a:solidFill>
            <a:srgbClr val="1C5D8A">
              <a:alpha val="70000"/>
            </a:srgbClr>
          </a:solidFill>
          <a:ln w="63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788920"/>
            <a:ext cx="2651760" cy="54864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Rates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2788920"/>
            <a:ext cx="2651760" cy="1417320"/>
          </a:xfrm>
          <a:prstGeom prst="rect">
            <a:avLst/>
          </a:prstGeom>
          <a:solidFill>
            <a:srgbClr val="1C5D8A">
              <a:alpha val="70000"/>
            </a:srgbClr>
          </a:solidFill>
          <a:ln w="63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54680" y="2788920"/>
            <a:ext cx="2651760" cy="54864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5468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15468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15468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2788920"/>
            <a:ext cx="2651760" cy="1417320"/>
          </a:xfrm>
          <a:prstGeom prst="rect">
            <a:avLst/>
          </a:prstGeom>
          <a:solidFill>
            <a:srgbClr val="1C5D8A">
              <a:alpha val="70000"/>
            </a:srgbClr>
          </a:solidFill>
          <a:ln w="63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89320" y="2788920"/>
            <a:ext cx="2651760" cy="54864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8932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98932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Mode-Median-Zero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98932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Imputation Method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&amp; Derived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64008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508760"/>
            <a:ext cx="2523744" cy="347472"/>
          </a:xfrm>
          <a:prstGeom prst="rect">
            <a:avLst/>
          </a:prstGeom>
          <a:solidFill>
            <a:srgbClr val="D9534F">
              <a:alpha val="15000"/>
            </a:srgbClr>
          </a:solidFill>
          <a:ln w="12700">
            <a:solidFill>
              <a:srgbClr val="D9534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50876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TotalDeaths / TotalCases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92024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fatality ratio — key indicator of healthcare system strain.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0058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005840"/>
            <a:ext cx="2743200" cy="64008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28416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28416" y="1508760"/>
            <a:ext cx="2523744" cy="347472"/>
          </a:xfrm>
          <a:prstGeom prst="rect">
            <a:avLst/>
          </a:prstGeom>
          <a:solidFill>
            <a:srgbClr val="0A8754">
              <a:alpha val="15000"/>
            </a:srgbClr>
          </a:solidFill>
          <a:ln w="12700">
            <a:solidFill>
              <a:srgbClr val="0A87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28416" y="150876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TotalRecovered / TotalCases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28416" y="192024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recovered patients — reflects healthcare capacity.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17336" y="10058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17336" y="100584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27064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27064" y="1508760"/>
            <a:ext cx="2523744" cy="347472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27064" y="150876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ActiveCases / TotalCases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27064" y="192024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currently active cases — signals ongoing transmission pressure.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724912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2724912"/>
            <a:ext cx="2743200" cy="64008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28346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" y="3227832"/>
            <a:ext cx="2523744" cy="347472"/>
          </a:xfrm>
          <a:prstGeom prst="rect">
            <a:avLst/>
          </a:prstGeom>
          <a:solidFill>
            <a:srgbClr val="2E8BC0">
              <a:alpha val="15000"/>
            </a:srgbClr>
          </a:solidFill>
          <a:ln w="12700">
            <a:solidFill>
              <a:srgbClr val="2E8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9768" y="322783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2E8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TotalTests</a:t>
            </a:r>
            <a:r>
              <a:rPr lang="en-US" sz="950" b="1" dirty="0">
                <a:solidFill>
                  <a:srgbClr val="2E8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950" b="1" dirty="0" err="1">
                <a:solidFill>
                  <a:srgbClr val="2E8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TotalCases</a:t>
            </a:r>
            <a:r>
              <a:rPr lang="en-US" sz="950" b="1" dirty="0">
                <a:solidFill>
                  <a:srgbClr val="2E8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" y="3639312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intensity — higher rates indicate better surveillance capability.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2724912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18688" y="2724912"/>
            <a:ext cx="2743200" cy="64008"/>
          </a:xfrm>
          <a:prstGeom prst="rect">
            <a:avLst/>
          </a:prstGeom>
          <a:solidFill>
            <a:srgbClr val="1C5D8A"/>
          </a:solidFill>
          <a:ln w="12700">
            <a:solidFill>
              <a:srgbClr val="1C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28416" y="28346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Cases/1M Pop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28416" y="3227832"/>
            <a:ext cx="2523744" cy="347472"/>
          </a:xfrm>
          <a:prstGeom prst="rect">
            <a:avLst/>
          </a:prstGeom>
          <a:solidFill>
            <a:srgbClr val="1C5D8A">
              <a:alpha val="15000"/>
            </a:srgbClr>
          </a:solidFill>
          <a:ln w="12700">
            <a:solidFill>
              <a:srgbClr val="1C5D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28416" y="322783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5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TotalCases / Population × 1,000,000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28416" y="3639312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cases by population for fair cross-country comparison.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17336" y="2724912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17336" y="2724912"/>
            <a:ext cx="27432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27064" y="28346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Deaths/1M Pop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27064" y="3227832"/>
            <a:ext cx="2523744" cy="347472"/>
          </a:xfrm>
          <a:prstGeom prst="rect">
            <a:avLst/>
          </a:prstGeom>
          <a:solidFill>
            <a:srgbClr val="0D1B2A">
              <a:alpha val="15000"/>
            </a:srgbClr>
          </a:solidFill>
          <a:ln w="12700">
            <a:solidFill>
              <a:srgbClr val="0D1B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27064" y="322783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TotalDeaths / Population × 1,000,000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27064" y="3639312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Population-adjusted mortality — better severity indicator than raw totals.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Preprocessing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" y="1005840"/>
            <a:ext cx="171907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188720"/>
            <a:ext cx="694944" cy="694944"/>
          </a:xfrm>
          <a:prstGeom prst="ellipse">
            <a:avLst/>
          </a:prstGeom>
          <a:solidFill>
            <a:srgbClr val="0A8754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" y="20116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" y="2468880"/>
            <a:ext cx="149961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worldometer_data.csv with Pandas. Ran .info(), .describe(), and .head() to understand structure and types.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2697480"/>
            <a:ext cx="9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8754"/>
                </a:solidFill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83664" y="1005840"/>
            <a:ext cx="171907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95728" y="1188720"/>
            <a:ext cx="694944" cy="694944"/>
          </a:xfrm>
          <a:prstGeom prst="ellipse">
            <a:avLst/>
          </a:prstGeom>
          <a:solidFill>
            <a:srgbClr val="0A8754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95728" y="11887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75104" y="20116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Clean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93392" y="2468880"/>
            <a:ext cx="149961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'Country/Region' → 'Country'. Dropped high-null columns (NewCases, NewDeaths, NewRecovered).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2697480"/>
            <a:ext cx="9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8754"/>
                </a:solidFill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12464" y="1005840"/>
            <a:ext cx="171907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24528" y="1188720"/>
            <a:ext cx="694944" cy="694944"/>
          </a:xfrm>
          <a:prstGeom prst="ellipse">
            <a:avLst/>
          </a:prstGeom>
          <a:solidFill>
            <a:srgbClr val="0A8754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24528" y="11887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03904" y="20116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22192" y="2468880"/>
            <a:ext cx="149961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categorical columns (Continent, WHO Region) with mode. Filled numeric columns (Population, Deaths, etc.) with median.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2697480"/>
            <a:ext cx="9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8754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541264" y="1005840"/>
            <a:ext cx="171907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53328" y="1188720"/>
            <a:ext cx="694944" cy="694944"/>
          </a:xfrm>
          <a:prstGeom prst="ellipse">
            <a:avLst/>
          </a:prstGeom>
          <a:solidFill>
            <a:srgbClr val="0A8754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53328" y="11887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32704" y="20116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50992" y="2468880"/>
            <a:ext cx="149961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DeathRate, RecoveryRate, ActiveRate, Tests/1M pop, Cases/1M pop, and Deaths/1M pop.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2697480"/>
            <a:ext cx="9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8754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70064" y="1005840"/>
            <a:ext cx="171907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882128" y="1188720"/>
            <a:ext cx="694944" cy="694944"/>
          </a:xfrm>
          <a:prstGeom prst="ellipse">
            <a:avLst/>
          </a:prstGeom>
          <a:solidFill>
            <a:srgbClr val="0A8754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82128" y="11887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61504" y="20116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79792" y="2468880"/>
            <a:ext cx="149961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all numeric columns to int for consistency.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Correlations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64008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1005840" cy="1005840"/>
          </a:xfrm>
          <a:prstGeom prst="ellipse">
            <a:avLst/>
          </a:prstGeom>
          <a:solidFill>
            <a:srgbClr val="0A8754">
              <a:alpha val="15000"/>
            </a:srgbClr>
          </a:solidFill>
          <a:ln w="12700">
            <a:solidFill>
              <a:srgbClr val="0A87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vs Total Cases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46304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— more tests correlate with more detected cases.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160520" cy="64008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1005840" cy="1005840"/>
          </a:xfrm>
          <a:prstGeom prst="ellipse">
            <a:avLst/>
          </a:prstGeom>
          <a:solidFill>
            <a:srgbClr val="2E8BC0">
              <a:alpha val="15000"/>
            </a:srgbClr>
          </a:solidFill>
          <a:ln w="12700">
            <a:solidFill>
              <a:srgbClr val="2E8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143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9893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vs Recovered Cases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146304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positive trend — higher testing enables more recoveries to be tracked.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1605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063240"/>
            <a:ext cx="1005840" cy="100584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063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55448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vs Death 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338328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relationship — countries with high recovery rates generally have lower death rates.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2834640"/>
            <a:ext cx="4160520" cy="64008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063240"/>
            <a:ext cx="1005840" cy="1005840"/>
          </a:xfrm>
          <a:prstGeom prst="ellipse">
            <a:avLst/>
          </a:prstGeom>
          <a:solidFill>
            <a:srgbClr val="D9534F">
              <a:alpha val="15000"/>
            </a:srgbClr>
          </a:solidFill>
          <a:ln w="12700">
            <a:solidFill>
              <a:srgbClr val="D9534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063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98932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 Critical Cases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338328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linear link — countries with high active caseloads report more critical/serious cases.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Distributions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Rate Distribution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Distribution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countries had active rates between 0.1–0.2, while death rates were concentrated in the 1–2% range.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713C3B-470B-9397-B056-6042CC330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64228"/>
            <a:ext cx="4170218" cy="3183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6A93DD-563C-B18A-EE75-DDCC6C126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1280160"/>
            <a:ext cx="4034069" cy="3167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 per Continent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111496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per Continent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56032" y="3661756"/>
            <a:ext cx="8631936" cy="1321724"/>
          </a:xfrm>
          <a:prstGeom prst="rect">
            <a:avLst/>
          </a:prstGeom>
          <a:solidFill>
            <a:srgbClr val="0D1B2A">
              <a:alpha val="95000"/>
            </a:srgbClr>
          </a:solidFill>
          <a:ln w="63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411480" y="3767328"/>
            <a:ext cx="347472" cy="347472"/>
          </a:xfrm>
          <a:prstGeom prst="ellipse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11480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32104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&amp; N. America had the highest total case counts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587752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008376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64024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184648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40296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360920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3CF103F7-47A8-09AD-97EA-B70E1D483A5D}"/>
              </a:ext>
            </a:extLst>
          </p:cNvPr>
          <p:cNvSpPr/>
          <p:nvPr/>
        </p:nvSpPr>
        <p:spPr>
          <a:xfrm>
            <a:off x="6912864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B2D900AE-2845-9CAD-498D-8D9656362FA6}"/>
              </a:ext>
            </a:extLst>
          </p:cNvPr>
          <p:cNvSpPr/>
          <p:nvPr/>
        </p:nvSpPr>
        <p:spPr>
          <a:xfrm>
            <a:off x="6780276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2FD68FAD-D5D6-F006-3380-860C07175F78}"/>
              </a:ext>
            </a:extLst>
          </p:cNvPr>
          <p:cNvSpPr/>
          <p:nvPr/>
        </p:nvSpPr>
        <p:spPr>
          <a:xfrm>
            <a:off x="5257800" y="3767328"/>
            <a:ext cx="347472" cy="347472"/>
          </a:xfrm>
          <a:prstGeom prst="ellipse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1293160A-B161-5B49-5516-6791364AE36F}"/>
              </a:ext>
            </a:extLst>
          </p:cNvPr>
          <p:cNvSpPr/>
          <p:nvPr/>
        </p:nvSpPr>
        <p:spPr>
          <a:xfrm>
            <a:off x="5678424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showed highest recovery rate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5A8C36-8BEE-0FFA-03CC-73D87D53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238596"/>
            <a:ext cx="3181449" cy="24190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FEDEE2E-101A-C129-B860-CF4175A89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552" y="1234440"/>
            <a:ext cx="3304232" cy="24190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FB2A0-E1F1-0D30-7E5D-188B64F9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8E4A01-2F7B-E03B-3F59-14F9A7DEDD8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F25820-9556-FBCB-E7E6-501A7825BE90}"/>
              </a:ext>
            </a:extLst>
          </p:cNvPr>
          <p:cNvSpPr/>
          <p:nvPr/>
        </p:nvSpPr>
        <p:spPr>
          <a:xfrm>
            <a:off x="0" y="13854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20D2F9-253A-BADD-1864-55CA1D25AF71}"/>
              </a:ext>
            </a:extLst>
          </p:cNvPr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Analysis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4BAD70-6212-466C-EC5D-F7C94DC0DD7D}"/>
              </a:ext>
            </a:extLst>
          </p:cNvPr>
          <p:cNvSpPr/>
          <p:nvPr/>
        </p:nvSpPr>
        <p:spPr>
          <a:xfrm>
            <a:off x="320040" y="914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Rate per Continent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8BCE10F-3AA9-5629-C0F1-D8E7C84AA3BE}"/>
              </a:ext>
            </a:extLst>
          </p:cNvPr>
          <p:cNvSpPr/>
          <p:nvPr/>
        </p:nvSpPr>
        <p:spPr>
          <a:xfrm>
            <a:off x="5111496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per Continent</a:t>
            </a:r>
            <a:endParaRPr lang="en-US" sz="1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169BCEB-ED45-4F9E-357E-3016BDBEDE5B}"/>
              </a:ext>
            </a:extLst>
          </p:cNvPr>
          <p:cNvSpPr/>
          <p:nvPr/>
        </p:nvSpPr>
        <p:spPr>
          <a:xfrm>
            <a:off x="256032" y="3657600"/>
            <a:ext cx="8631936" cy="1325880"/>
          </a:xfrm>
          <a:prstGeom prst="rect">
            <a:avLst/>
          </a:prstGeom>
          <a:solidFill>
            <a:srgbClr val="0D1B2A">
              <a:alpha val="95000"/>
            </a:srgbClr>
          </a:solidFill>
          <a:ln w="63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1D31442-D90B-BA9E-F829-E5FA2634F140}"/>
              </a:ext>
            </a:extLst>
          </p:cNvPr>
          <p:cNvSpPr/>
          <p:nvPr/>
        </p:nvSpPr>
        <p:spPr>
          <a:xfrm>
            <a:off x="411480" y="3767328"/>
            <a:ext cx="347472" cy="347472"/>
          </a:xfrm>
          <a:prstGeom prst="ellipse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C420BC6-A487-E77A-82DC-6060CA07B922}"/>
              </a:ext>
            </a:extLst>
          </p:cNvPr>
          <p:cNvSpPr/>
          <p:nvPr/>
        </p:nvSpPr>
        <p:spPr>
          <a:xfrm>
            <a:off x="411480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1B2081C-4CCA-EAC1-E30B-DD476BBE30F3}"/>
              </a:ext>
            </a:extLst>
          </p:cNvPr>
          <p:cNvSpPr/>
          <p:nvPr/>
        </p:nvSpPr>
        <p:spPr>
          <a:xfrm>
            <a:off x="832104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&amp; N. America had the highest active rate</a:t>
            </a:r>
            <a:endParaRPr lang="en-US" sz="1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1A3876E-81B8-5443-31FF-E829360E25F7}"/>
              </a:ext>
            </a:extLst>
          </p:cNvPr>
          <p:cNvSpPr/>
          <p:nvPr/>
        </p:nvSpPr>
        <p:spPr>
          <a:xfrm>
            <a:off x="2587752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36968A2-FAE0-9231-7BC4-D1976405E4C1}"/>
              </a:ext>
            </a:extLst>
          </p:cNvPr>
          <p:cNvSpPr/>
          <p:nvPr/>
        </p:nvSpPr>
        <p:spPr>
          <a:xfrm>
            <a:off x="3008376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E0A11CD-F884-359B-3326-A94A82A5F00B}"/>
              </a:ext>
            </a:extLst>
          </p:cNvPr>
          <p:cNvSpPr/>
          <p:nvPr/>
        </p:nvSpPr>
        <p:spPr>
          <a:xfrm>
            <a:off x="5184648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74A005D-93EF-FC75-2993-AB10E7C80C09}"/>
              </a:ext>
            </a:extLst>
          </p:cNvPr>
          <p:cNvSpPr/>
          <p:nvPr/>
        </p:nvSpPr>
        <p:spPr>
          <a:xfrm>
            <a:off x="7360920" y="374904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F3342AED-07CF-E93A-1492-107CB87FC384}"/>
              </a:ext>
            </a:extLst>
          </p:cNvPr>
          <p:cNvSpPr/>
          <p:nvPr/>
        </p:nvSpPr>
        <p:spPr>
          <a:xfrm>
            <a:off x="5271518" y="3728317"/>
            <a:ext cx="347472" cy="347472"/>
          </a:xfrm>
          <a:prstGeom prst="ellipse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0A5154D7-B091-CF80-31D8-2CDBF6DFAD67}"/>
              </a:ext>
            </a:extLst>
          </p:cNvPr>
          <p:cNvSpPr/>
          <p:nvPr/>
        </p:nvSpPr>
        <p:spPr>
          <a:xfrm>
            <a:off x="5271518" y="3728317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15807D4-5D5C-8ED4-1496-F6EBC5EEB90E}"/>
              </a:ext>
            </a:extLst>
          </p:cNvPr>
          <p:cNvSpPr/>
          <p:nvPr/>
        </p:nvSpPr>
        <p:spPr>
          <a:xfrm>
            <a:off x="5692142" y="3710029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showed highest death rate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E48934-6D90-00A0-83AF-E8C6B14F8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953" y="1238596"/>
            <a:ext cx="3295543" cy="24190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F45594-9D7C-5576-0227-AC8934F8D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79" y="1230283"/>
            <a:ext cx="3360845" cy="242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07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Countries – Total Cases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829047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Spotlight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90A74D-4459-C3CB-8BB8-7A3287D55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5444999" cy="36804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0ED652-D0D5-4CA4-2A60-B7AEA562C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407" y="1371600"/>
            <a:ext cx="2490073" cy="30882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1C5D8A">
              <a:alpha val="20000"/>
            </a:srgbClr>
          </a:solidFill>
          <a:ln w="12700">
            <a:solidFill>
              <a:srgbClr val="1C5D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5029200" cy="36576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Key Insights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 with high cases tend to have higher death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92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varies significantly across Continent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140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Continent show strong recovery performance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9809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led all countries with 5.03M cases— far ahead of Brazil (2.9M) and India (2.0M)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35295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6576" cy="3840480"/>
          </a:xfrm>
          <a:prstGeom prst="rect">
            <a:avLst/>
          </a:prstGeom>
          <a:solidFill>
            <a:srgbClr val="1C5D8A"/>
          </a:solidFill>
          <a:ln w="12700">
            <a:solidFill>
              <a:srgbClr val="1C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Recommendations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21808" y="138988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healthcare resources on high-risk, high-death-rate countries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167128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167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21808" y="2139696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death rate as a primary KPI alongside active cases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916936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2916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21808" y="288950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 reporting consistency across regions for better comparisons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3666744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3666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21808" y="363931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testing capacity — it directly enables accurate case tracking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C5D8A">
              <a:alpha val="25000"/>
            </a:srgbClr>
          </a:solidFill>
          <a:ln w="12700">
            <a:solidFill>
              <a:srgbClr val="1C5D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Global Data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971800"/>
            <a:ext cx="2743200" cy="45720"/>
          </a:xfrm>
          <a:prstGeom prst="rect">
            <a:avLst/>
          </a:prstGeom>
          <a:solidFill>
            <a:srgbClr val="0A8754"/>
          </a:solidFill>
          <a:ln w="12700">
            <a:solidFill>
              <a:srgbClr val="0A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676</Words>
  <Application>Microsoft Office PowerPoint</Application>
  <PresentationFormat>On-screen Show (16:9)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Global Data Analysis</dc:title>
  <dc:subject>PptxGenJS Presentation</dc:subject>
  <dc:creator>PptxGenJS</dc:creator>
  <cp:lastModifiedBy>YomnaAhmedShaban</cp:lastModifiedBy>
  <cp:revision>5</cp:revision>
  <dcterms:created xsi:type="dcterms:W3CDTF">2026-04-13T20:24:17Z</dcterms:created>
  <dcterms:modified xsi:type="dcterms:W3CDTF">2026-04-15T19:08:41Z</dcterms:modified>
</cp:coreProperties>
</file>